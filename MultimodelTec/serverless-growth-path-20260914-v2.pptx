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1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基于用户提供的个人经历材料制作。绩效数字和时间节点均来自原始材料；Aura 团队规模为用户明确补充的“10人+”。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基于用户提供的经历材料制作。架构层次和关键指标均来自原材料；Aura 团队规模为用户补充的“10人+”。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C0FFB0C8-E840-4756-AE0C-34ACE0D6497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733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围绕一件事的成长路径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1EFDA0-DF48-4B2D-9546-21F527B5792C}"/>
              </a:ext>
            </a:extLst>
          </p:cNvPr>
          <p:cNvSpPr>
            <a:spLocks noGrp="1"/>
          </p:cNvSpPr>
          <p:nvPr/>
        </p:nvSpPr>
        <p:spPr>
          <a:xfrm>
            <a:off x="609600" y="828675"/>
            <a:ext cx="8572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42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从单点突破到系统竞争力：和一群人，做成大数据 Serverless 化处理平台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5A6AF51-0A61-4D7F-B683-0FAEF278451A}"/>
              </a:ext>
            </a:extLst>
          </p:cNvPr>
          <p:cNvSpPr>
            <a:spLocks noGrp="1"/>
          </p:cNvSpPr>
          <p:nvPr/>
        </p:nvSpPr>
        <p:spPr>
          <a:xfrm>
            <a:off x="9791700" y="371475"/>
            <a:ext cx="1790700" cy="49530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9525">
            <a:solidFill>
              <a:srgbClr val="DDE5E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CBEB6B-3537-4488-B39D-0D5E5EC6D80F}"/>
              </a:ext>
            </a:extLst>
          </p:cNvPr>
          <p:cNvSpPr>
            <a:spLocks noGrp="1"/>
          </p:cNvSpPr>
          <p:nvPr/>
        </p:nvSpPr>
        <p:spPr>
          <a:xfrm>
            <a:off x="9791700" y="5143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75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领域灯塔 · 专家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AAB20FB-CA8A-425F-B616-B897A38A4079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10991850" cy="552450"/>
          </a:xfrm>
          <a:prstGeom prst="roundRect">
            <a:avLst>
              <a:gd name="adj" fmla="val 13793"/>
            </a:avLst>
          </a:prstGeom>
          <a:solidFill>
            <a:srgbClr val="F7FAFD"/>
          </a:solidFill>
          <a:ln w="9525">
            <a:solidFill>
              <a:srgbClr val="D5E2F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8671C2-83D1-439F-BBD5-7F1669D253B3}"/>
              </a:ext>
            </a:extLst>
          </p:cNvPr>
          <p:cNvSpPr>
            <a:spLocks noGrp="1"/>
          </p:cNvSpPr>
          <p:nvPr/>
        </p:nvSpPr>
        <p:spPr>
          <a:xfrm>
            <a:off x="781050" y="143827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200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一件事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1E79A1-A1E8-4DB4-B10E-4A68988B5D86}"/>
              </a:ext>
            </a:extLst>
          </p:cNvPr>
          <p:cNvSpPr>
            <a:spLocks noGrp="1"/>
          </p:cNvSpPr>
          <p:nvPr/>
        </p:nvSpPr>
        <p:spPr>
          <a:xfrm>
            <a:off x="1524000" y="1409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大数据 Serverless 化处理平台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BA4AF2-4005-4399-9C7A-7A1F61D3EB7E}"/>
              </a:ext>
            </a:extLst>
          </p:cNvPr>
          <p:cNvSpPr>
            <a:spLocks noGrp="1"/>
          </p:cNvSpPr>
          <p:nvPr/>
        </p:nvSpPr>
        <p:spPr>
          <a:xfrm>
            <a:off x="4762500" y="14382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控制面底座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114120-1C60-4D2C-ACD0-19B5787C2247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LakeFormation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5F6E05-020F-4C2D-AB03-085864989ECB}"/>
              </a:ext>
            </a:extLst>
          </p:cNvPr>
          <p:cNvSpPr>
            <a:spLocks noGrp="1"/>
          </p:cNvSpPr>
          <p:nvPr/>
        </p:nvSpPr>
        <p:spPr>
          <a:xfrm>
            <a:off x="7620000" y="14382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FabricCache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D23E47-3290-4F73-99AA-595F4A248BD2}"/>
              </a:ext>
            </a:extLst>
          </p:cNvPr>
          <p:cNvSpPr>
            <a:spLocks noGrp="1"/>
          </p:cNvSpPr>
          <p:nvPr/>
        </p:nvSpPr>
        <p:spPr>
          <a:xfrm>
            <a:off x="9029700" y="14382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A79611-8A0A-4DA5-A8AD-4CAB8C836372}"/>
              </a:ext>
            </a:extLst>
          </p:cNvPr>
          <p:cNvSpPr>
            <a:spLocks noGrp="1"/>
          </p:cNvSpPr>
          <p:nvPr/>
        </p:nvSpPr>
        <p:spPr>
          <a:xfrm>
            <a:off x="10001250" y="14382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Aura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8AC4349F-31B6-4A08-B9B9-A7539147BA10}"/>
              </a:ext>
            </a:extLst>
          </p:cNvPr>
          <p:cNvSpPr>
            <a:spLocks noGrp="1"/>
          </p:cNvSpPr>
          <p:nvPr/>
        </p:nvSpPr>
        <p:spPr>
          <a:xfrm>
            <a:off x="4562475" y="1371600"/>
            <a:ext cx="0" cy="323850"/>
          </a:xfrm>
          <a:prstGeom prst="line">
            <a:avLst/>
          </a:prstGeom>
          <a:noFill/>
          <a:ln w="9525">
            <a:solidFill>
              <a:srgbClr val="C6D5E5"/>
            </a:solidFill>
            <a:prstDash val="solid"/>
          </a:ln>
        </p:spPr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0A1E80AC-5832-4D11-828D-F86420B3EAC8}"/>
              </a:ext>
            </a:extLst>
          </p:cNvPr>
          <p:cNvSpPr>
            <a:spLocks noGrp="1"/>
          </p:cNvSpPr>
          <p:nvPr/>
        </p:nvSpPr>
        <p:spPr>
          <a:xfrm>
            <a:off x="5953125" y="1371600"/>
            <a:ext cx="0" cy="323850"/>
          </a:xfrm>
          <a:prstGeom prst="line">
            <a:avLst/>
          </a:prstGeom>
          <a:noFill/>
          <a:ln w="9525">
            <a:solidFill>
              <a:srgbClr val="C6D5E5"/>
            </a:solidFill>
            <a:prstDash val="solid"/>
          </a:ln>
        </p:spPr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0FF36103-E936-49C7-A557-35AB5105C253}"/>
              </a:ext>
            </a:extLst>
          </p:cNvPr>
          <p:cNvSpPr>
            <a:spLocks noGrp="1"/>
          </p:cNvSpPr>
          <p:nvPr/>
        </p:nvSpPr>
        <p:spPr>
          <a:xfrm>
            <a:off x="7429500" y="1371600"/>
            <a:ext cx="0" cy="323850"/>
          </a:xfrm>
          <a:prstGeom prst="line">
            <a:avLst/>
          </a:prstGeom>
          <a:noFill/>
          <a:ln w="9525">
            <a:solidFill>
              <a:srgbClr val="C6D5E5"/>
            </a:solidFill>
            <a:prstDash val="solid"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320719F0-52BB-4EDC-B661-359178BFAB6E}"/>
              </a:ext>
            </a:extLst>
          </p:cNvPr>
          <p:cNvSpPr>
            <a:spLocks noGrp="1"/>
          </p:cNvSpPr>
          <p:nvPr/>
        </p:nvSpPr>
        <p:spPr>
          <a:xfrm>
            <a:off x="8858250" y="1371600"/>
            <a:ext cx="0" cy="323850"/>
          </a:xfrm>
          <a:prstGeom prst="line">
            <a:avLst/>
          </a:prstGeom>
          <a:noFill/>
          <a:ln w="9525">
            <a:solidFill>
              <a:srgbClr val="C6D5E5"/>
            </a:solidFill>
            <a:prstDash val="solid"/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8908201B-FB63-43B8-8CAD-07783B2E88F2}"/>
              </a:ext>
            </a:extLst>
          </p:cNvPr>
          <p:cNvSpPr>
            <a:spLocks noGrp="1"/>
          </p:cNvSpPr>
          <p:nvPr/>
        </p:nvSpPr>
        <p:spPr>
          <a:xfrm>
            <a:off x="9791700" y="1371600"/>
            <a:ext cx="0" cy="323850"/>
          </a:xfrm>
          <a:prstGeom prst="line">
            <a:avLst/>
          </a:prstGeom>
          <a:noFill/>
          <a:ln w="9525">
            <a:solidFill>
              <a:srgbClr val="C6D5E5"/>
            </a:solidFill>
            <a:prstDash val="solid"/>
          </a:ln>
        </p:spPr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CCD8F37B-646B-4452-99FF-5073679821A4}"/>
              </a:ext>
            </a:extLst>
          </p:cNvPr>
          <p:cNvSpPr>
            <a:spLocks noGrp="1"/>
          </p:cNvSpPr>
          <p:nvPr/>
        </p:nvSpPr>
        <p:spPr>
          <a:xfrm>
            <a:off x="1304925" y="2095500"/>
            <a:ext cx="0" cy="3333750"/>
          </a:xfrm>
          <a:prstGeom prst="line">
            <a:avLst/>
          </a:prstGeom>
          <a:noFill/>
          <a:ln w="19050">
            <a:solidFill>
              <a:srgbClr val="9FB4C8"/>
            </a:solidFill>
            <a:prstDash val="solid"/>
          </a:ln>
        </p:spPr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2B5D2D3-2DD7-4887-B95F-2DFF332DB802}"/>
              </a:ext>
            </a:extLst>
          </p:cNvPr>
          <p:cNvSpPr>
            <a:spLocks noGrp="1"/>
          </p:cNvSpPr>
          <p:nvPr/>
        </p:nvSpPr>
        <p:spPr>
          <a:xfrm>
            <a:off x="1304925" y="5429250"/>
            <a:ext cx="10001250" cy="0"/>
          </a:xfrm>
          <a:prstGeom prst="line">
            <a:avLst/>
          </a:prstGeom>
          <a:noFill/>
          <a:ln w="19050">
            <a:solidFill>
              <a:srgbClr val="9FB4C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CB42A6-D87E-464E-BB38-4D4AB2A16B24}"/>
              </a:ext>
            </a:extLst>
          </p:cNvPr>
          <p:cNvSpPr>
            <a:spLocks noGrp="1"/>
          </p:cNvSpPr>
          <p:nvPr/>
        </p:nvSpPr>
        <p:spPr>
          <a:xfrm>
            <a:off x="76200" y="2133600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79750" lnSpcReduction="10000"/>
          </a:bodyPr>
          <a:lstStyle/>
          <a:p>
            <a:pPr algn="ctr">
              <a:defRPr sz="1125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协同范围与技术影响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498021-B84D-46FB-9834-BD6052BAF976}"/>
              </a:ext>
            </a:extLst>
          </p:cNvPr>
          <p:cNvSpPr>
            <a:spLocks noGrp="1"/>
          </p:cNvSpPr>
          <p:nvPr/>
        </p:nvSpPr>
        <p:spPr>
          <a:xfrm>
            <a:off x="3133725" y="64770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个人发展：软件开发骨干  →  子模块负责人  →  系统级架构师  →  团队负责人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9CB68B9C-B78C-445A-BDF1-195A60838B37}"/>
              </a:ext>
            </a:extLst>
          </p:cNvPr>
          <p:cNvSpPr>
            <a:spLocks noGrp="1"/>
          </p:cNvSpPr>
          <p:nvPr/>
        </p:nvSpPr>
        <p:spPr>
          <a:xfrm>
            <a:off x="1304925" y="5162550"/>
            <a:ext cx="10001250" cy="0"/>
          </a:xfrm>
          <a:prstGeom prst="line">
            <a:avLst/>
          </a:prstGeom>
          <a:noFill/>
          <a:ln w="9525">
            <a:solidFill>
              <a:srgbClr val="DDE5EF"/>
            </a:solidFill>
            <a:prstDash val="dash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CC3CBEA-8059-410E-A98C-9508CA037480}"/>
              </a:ext>
            </a:extLst>
          </p:cNvPr>
          <p:cNvSpPr>
            <a:spLocks noGrp="1"/>
          </p:cNvSpPr>
          <p:nvPr/>
        </p:nvSpPr>
        <p:spPr>
          <a:xfrm>
            <a:off x="47625" y="50577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r">
              <a:def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从个人深耕开始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A1523722-C075-4B9D-8C52-82CF20CC458B}"/>
              </a:ext>
            </a:extLst>
          </p:cNvPr>
          <p:cNvSpPr>
            <a:spLocks noGrp="1"/>
          </p:cNvSpPr>
          <p:nvPr/>
        </p:nvSpPr>
        <p:spPr>
          <a:xfrm>
            <a:off x="1304925" y="4343400"/>
            <a:ext cx="10001250" cy="0"/>
          </a:xfrm>
          <a:prstGeom prst="line">
            <a:avLst/>
          </a:prstGeom>
          <a:noFill/>
          <a:ln w="9525">
            <a:solidFill>
              <a:srgbClr val="DDE5EF"/>
            </a:solidFill>
            <a:prstDash val="dash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927450-024A-4752-B636-C43B797F60F0}"/>
              </a:ext>
            </a:extLst>
          </p:cNvPr>
          <p:cNvSpPr>
            <a:spLocks noGrp="1"/>
          </p:cNvSpPr>
          <p:nvPr/>
        </p:nvSpPr>
        <p:spPr>
          <a:xfrm>
            <a:off x="47625" y="42386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r">
              <a:def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带动小团队交付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CC673C0A-95E0-4C62-A257-66A76A91F315}"/>
              </a:ext>
            </a:extLst>
          </p:cNvPr>
          <p:cNvSpPr>
            <a:spLocks noGrp="1"/>
          </p:cNvSpPr>
          <p:nvPr/>
        </p:nvSpPr>
        <p:spPr>
          <a:xfrm>
            <a:off x="1304925" y="3524250"/>
            <a:ext cx="10001250" cy="0"/>
          </a:xfrm>
          <a:prstGeom prst="line">
            <a:avLst/>
          </a:prstGeom>
          <a:noFill/>
          <a:ln w="9525">
            <a:solidFill>
              <a:srgbClr val="DDE5EF"/>
            </a:solidFill>
            <a:prstDash val="dash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EB78DA-4BFE-4B12-A5FF-C04677A2CCAA}"/>
              </a:ext>
            </a:extLst>
          </p:cNvPr>
          <p:cNvSpPr>
            <a:spLocks noGrp="1"/>
          </p:cNvSpPr>
          <p:nvPr/>
        </p:nvSpPr>
        <p:spPr>
          <a:xfrm>
            <a:off x="47625" y="34194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r">
              <a:def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联动多组件协同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79E4EE2-8F1D-4D90-AA40-F68DF559B752}"/>
              </a:ext>
            </a:extLst>
          </p:cNvPr>
          <p:cNvSpPr>
            <a:spLocks noGrp="1"/>
          </p:cNvSpPr>
          <p:nvPr/>
        </p:nvSpPr>
        <p:spPr>
          <a:xfrm>
            <a:off x="1304925" y="2705100"/>
            <a:ext cx="10001250" cy="0"/>
          </a:xfrm>
          <a:prstGeom prst="line">
            <a:avLst/>
          </a:prstGeom>
          <a:noFill/>
          <a:ln w="9525">
            <a:solidFill>
              <a:srgbClr val="DDE5EF"/>
            </a:solidFill>
            <a:prstDash val="dash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22D197-B8C6-428A-BD6B-7439FFA09490}"/>
              </a:ext>
            </a:extLst>
          </p:cNvPr>
          <p:cNvSpPr>
            <a:spLocks noGrp="1"/>
          </p:cNvSpPr>
          <p:nvPr/>
        </p:nvSpPr>
        <p:spPr>
          <a:xfrm>
            <a:off x="47625" y="26003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r">
              <a:def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牵引平台技术竞争力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996561CC-55D3-4C07-BFB2-9AC24F23C71B}"/>
              </a:ext>
            </a:extLst>
          </p:cNvPr>
          <p:cNvSpPr>
            <a:spLocks noGrp="1"/>
          </p:cNvSpPr>
          <p:nvPr/>
        </p:nvSpPr>
        <p:spPr>
          <a:xfrm rot="-1180156">
            <a:off x="2692900" y="4457700"/>
            <a:ext cx="2377074" cy="0"/>
          </a:xfrm>
          <a:prstGeom prst="line">
            <a:avLst/>
          </a:prstGeom>
          <a:noFill/>
          <a:ln w="38100">
            <a:solidFill>
              <a:srgbClr val="7CA9CE"/>
            </a:solidFill>
            <a:prstDash val="solid"/>
          </a:ln>
        </p:spPr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4947E15B-5800-4B4C-9398-8E851B2551F0}"/>
              </a:ext>
            </a:extLst>
          </p:cNvPr>
          <p:cNvSpPr>
            <a:spLocks noGrp="1"/>
          </p:cNvSpPr>
          <p:nvPr/>
        </p:nvSpPr>
        <p:spPr>
          <a:xfrm rot="-1093949">
            <a:off x="4936431" y="3657600"/>
            <a:ext cx="2557263" cy="0"/>
          </a:xfrm>
          <a:prstGeom prst="line">
            <a:avLst/>
          </a:prstGeom>
          <a:noFill/>
          <a:ln w="38100">
            <a:solidFill>
              <a:srgbClr val="7CA9CE"/>
            </a:solidFill>
            <a:prstDash val="solid"/>
          </a:ln>
        </p:spPr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6F15FF9F-68CE-42C4-916E-1BF0FD3D2BC0}"/>
              </a:ext>
            </a:extLst>
          </p:cNvPr>
          <p:cNvSpPr>
            <a:spLocks noGrp="1"/>
          </p:cNvSpPr>
          <p:nvPr/>
        </p:nvSpPr>
        <p:spPr>
          <a:xfrm rot="-1074267">
            <a:off x="7366480" y="2857500"/>
            <a:ext cx="2602540" cy="0"/>
          </a:xfrm>
          <a:prstGeom prst="line">
            <a:avLst/>
          </a:prstGeom>
          <a:noFill/>
          <a:ln w="38100">
            <a:solidFill>
              <a:srgbClr val="7CA9CE"/>
            </a:solidFill>
            <a:prstDash val="solid"/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26A8EF9-48DE-432E-851A-C08D49EC30A6}"/>
              </a:ext>
            </a:extLst>
          </p:cNvPr>
          <p:cNvSpPr>
            <a:spLocks noGrp="1"/>
          </p:cNvSpPr>
          <p:nvPr/>
        </p:nvSpPr>
        <p:spPr>
          <a:xfrm>
            <a:off x="1581150" y="3371850"/>
            <a:ext cx="2247900" cy="1190625"/>
          </a:xfrm>
          <a:prstGeom prst="roundRect">
            <a:avLst>
              <a:gd name="adj" fmla="val 6400"/>
            </a:avLst>
          </a:prstGeom>
          <a:solidFill>
            <a:srgbClr val="EDF5FC"/>
          </a:solidFill>
          <a:ln w="9525">
            <a:solidFill>
              <a:srgbClr val="D6E2ED"/>
            </a:solidFill>
            <a:prstDash val="solid"/>
          </a:ln>
        </p:spPr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96D78EF-1399-466A-BA59-C0B82A71A10B}"/>
              </a:ext>
            </a:extLst>
          </p:cNvPr>
          <p:cNvSpPr>
            <a:spLocks noGrp="1"/>
          </p:cNvSpPr>
          <p:nvPr/>
        </p:nvSpPr>
        <p:spPr>
          <a:xfrm>
            <a:off x="1581150" y="3371850"/>
            <a:ext cx="47625" cy="1190625"/>
          </a:xfrm>
          <a:prstGeom prst="roundRect">
            <a:avLst>
              <a:gd name="adj" fmla="val 50000"/>
            </a:avLst>
          </a:prstGeom>
          <a:solidFill>
            <a:srgbClr val="2F7DC1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BCB0C0-969E-4205-90E6-7EE5D664E005}"/>
              </a:ext>
            </a:extLst>
          </p:cNvPr>
          <p:cNvSpPr>
            <a:spLocks noGrp="1"/>
          </p:cNvSpPr>
          <p:nvPr/>
        </p:nvSpPr>
        <p:spPr>
          <a:xfrm>
            <a:off x="1733550" y="3476625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2F7D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DC1"/>
                </a:solidFill>
                <a:latin typeface="Microsoft YaHei"/>
                <a:ea typeface="Microsoft YaHei"/>
                <a:cs typeface="Microsoft YaHei"/>
              </a:rPr>
              <a:t>2023.07–2024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1674215-5336-499E-BF46-AEE82F3F5E01}"/>
              </a:ext>
            </a:extLst>
          </p:cNvPr>
          <p:cNvSpPr>
            <a:spLocks noGrp="1"/>
          </p:cNvSpPr>
          <p:nvPr/>
        </p:nvSpPr>
        <p:spPr>
          <a:xfrm>
            <a:off x="1733550" y="366712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039"/>
          </a:bodyPr>
          <a:lstStyle/>
          <a:p>
            <a:pPr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FabricCache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A8333E5-F0D7-4A63-8DF2-23564D5313DA}"/>
              </a:ext>
            </a:extLst>
          </p:cNvPr>
          <p:cNvSpPr>
            <a:spLocks noGrp="1"/>
          </p:cNvSpPr>
          <p:nvPr/>
        </p:nvSpPr>
        <p:spPr>
          <a:xfrm>
            <a:off x="1733550" y="3867150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分布式缓存骨干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EDD2ECF-F783-4D7C-A9D2-67B4D3821FF7}"/>
              </a:ext>
            </a:extLst>
          </p:cNvPr>
          <p:cNvSpPr>
            <a:spLocks noGrp="1"/>
          </p:cNvSpPr>
          <p:nvPr/>
        </p:nvSpPr>
        <p:spPr>
          <a:xfrm>
            <a:off x="1733550" y="4086225"/>
            <a:ext cx="19812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70096" lnSpcReduction="10000"/>
          </a:bodyPr>
          <a:lstStyle/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近计算侧缓存底座建设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打通多语义访问与多级缓存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OBS 访问时延降低 70%，带宽提升 3 倍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E017220-1914-457C-BA07-E82E914B720F}"/>
              </a:ext>
            </a:extLst>
          </p:cNvPr>
          <p:cNvSpPr>
            <a:spLocks noGrp="1"/>
          </p:cNvSpPr>
          <p:nvPr/>
        </p:nvSpPr>
        <p:spPr>
          <a:xfrm>
            <a:off x="2628900" y="4724400"/>
            <a:ext cx="266700" cy="266700"/>
          </a:xfrm>
          <a:prstGeom prst="ellipse">
            <a:avLst/>
          </a:prstGeom>
          <a:solidFill>
            <a:srgbClr val="2F7DC1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4D4EC8-4D5A-45F2-AC96-088C6BB364B9}"/>
              </a:ext>
            </a:extLst>
          </p:cNvPr>
          <p:cNvSpPr>
            <a:spLocks noGrp="1"/>
          </p:cNvSpPr>
          <p:nvPr/>
        </p:nvSpPr>
        <p:spPr>
          <a:xfrm>
            <a:off x="2686050" y="4791075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581096D-79C0-45CD-AC7E-582D8E8D2FF5}"/>
              </a:ext>
            </a:extLst>
          </p:cNvPr>
          <p:cNvSpPr>
            <a:spLocks noGrp="1"/>
          </p:cNvSpPr>
          <p:nvPr/>
        </p:nvSpPr>
        <p:spPr>
          <a:xfrm>
            <a:off x="3876675" y="4552950"/>
            <a:ext cx="2266950" cy="1190625"/>
          </a:xfrm>
          <a:prstGeom prst="roundRect">
            <a:avLst>
              <a:gd name="adj" fmla="val 6400"/>
            </a:avLst>
          </a:prstGeom>
          <a:solidFill>
            <a:srgbClr val="EAF8F7"/>
          </a:solidFill>
          <a:ln w="9525">
            <a:solidFill>
              <a:srgbClr val="D6E2ED"/>
            </a:solidFill>
            <a:prstDash val="solid"/>
          </a:ln>
        </p:spPr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5152282-7438-4FAD-AC36-F16A073A548A}"/>
              </a:ext>
            </a:extLst>
          </p:cNvPr>
          <p:cNvSpPr>
            <a:spLocks noGrp="1"/>
          </p:cNvSpPr>
          <p:nvPr/>
        </p:nvSpPr>
        <p:spPr>
          <a:xfrm>
            <a:off x="3876675" y="4552950"/>
            <a:ext cx="47625" cy="1190625"/>
          </a:xfrm>
          <a:prstGeom prst="roundRect">
            <a:avLst>
              <a:gd name="adj" fmla="val 50000"/>
            </a:avLst>
          </a:prstGeom>
          <a:solidFill>
            <a:srgbClr val="159E9C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0DCA9BC-0B87-4344-ADB4-86B1442193BE}"/>
              </a:ext>
            </a:extLst>
          </p:cNvPr>
          <p:cNvSpPr>
            <a:spLocks noGrp="1"/>
          </p:cNvSpPr>
          <p:nvPr/>
        </p:nvSpPr>
        <p:spPr>
          <a:xfrm>
            <a:off x="4029075" y="4657725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159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9E9C"/>
                </a:solidFill>
                <a:latin typeface="Microsoft YaHei"/>
                <a:ea typeface="Microsoft YaHei"/>
                <a:cs typeface="Microsoft YaHei"/>
              </a:rPr>
              <a:t>2024–2025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F509989-ABC0-4604-B9F8-9C23FC38AC99}"/>
              </a:ext>
            </a:extLst>
          </p:cNvPr>
          <p:cNvSpPr>
            <a:spLocks noGrp="1"/>
          </p:cNvSpPr>
          <p:nvPr/>
        </p:nvSpPr>
        <p:spPr>
          <a:xfrm>
            <a:off x="4029075" y="484822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039"/>
          </a:bodyPr>
          <a:lstStyle/>
          <a:p>
            <a:pPr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950B4DA-BBE6-4B55-B1B4-489E70E97544}"/>
              </a:ext>
            </a:extLst>
          </p:cNvPr>
          <p:cNvSpPr>
            <a:spLocks noGrp="1"/>
          </p:cNvSpPr>
          <p:nvPr/>
        </p:nvSpPr>
        <p:spPr>
          <a:xfrm>
            <a:off x="4029075" y="50482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异构 AI 计算引擎负责人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C89BF97-9BAA-4337-8B1C-31EA4E092C1C}"/>
              </a:ext>
            </a:extLst>
          </p:cNvPr>
          <p:cNvSpPr>
            <a:spLocks noGrp="1"/>
          </p:cNvSpPr>
          <p:nvPr/>
        </p:nvSpPr>
        <p:spPr>
          <a:xfrm>
            <a:off x="4029075" y="5267325"/>
            <a:ext cx="2000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62596" lnSpcReduction="20000"/>
          </a:bodyPr>
          <a:lstStyle/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主导产品化与业务交付协同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细粒度调度、全托管架构落地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资源利用率提升 4 倍，数据生产时间减少 40%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33565B4A-B34F-42CB-AB33-DE520D01DF2E}"/>
              </a:ext>
            </a:extLst>
          </p:cNvPr>
          <p:cNvSpPr>
            <a:spLocks noGrp="1"/>
          </p:cNvSpPr>
          <p:nvPr/>
        </p:nvSpPr>
        <p:spPr>
          <a:xfrm>
            <a:off x="4867275" y="3924300"/>
            <a:ext cx="266700" cy="266700"/>
          </a:xfrm>
          <a:prstGeom prst="ellipse">
            <a:avLst/>
          </a:prstGeom>
          <a:solidFill>
            <a:srgbClr val="159E9C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5BB38E4-03E9-44A0-B659-BD8816011CAE}"/>
              </a:ext>
            </a:extLst>
          </p:cNvPr>
          <p:cNvSpPr>
            <a:spLocks noGrp="1"/>
          </p:cNvSpPr>
          <p:nvPr/>
        </p:nvSpPr>
        <p:spPr>
          <a:xfrm>
            <a:off x="4924425" y="3990975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514A19C-82E2-423D-9BC7-C3A7C7FA5936}"/>
              </a:ext>
            </a:extLst>
          </p:cNvPr>
          <p:cNvSpPr>
            <a:spLocks noGrp="1"/>
          </p:cNvSpPr>
          <p:nvPr/>
        </p:nvSpPr>
        <p:spPr>
          <a:xfrm>
            <a:off x="6324600" y="2000250"/>
            <a:ext cx="2266950" cy="1133475"/>
          </a:xfrm>
          <a:prstGeom prst="roundRect">
            <a:avLst>
              <a:gd name="adj" fmla="val 6723"/>
            </a:avLst>
          </a:prstGeom>
          <a:solidFill>
            <a:srgbClr val="EDF5FC"/>
          </a:solidFill>
          <a:ln w="9525">
            <a:solidFill>
              <a:srgbClr val="D6E2ED"/>
            </a:solidFill>
            <a:prstDash val="solid"/>
          </a:ln>
        </p:spPr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DFA8D31-5BF6-4773-B609-DB6763E25D58}"/>
              </a:ext>
            </a:extLst>
          </p:cNvPr>
          <p:cNvSpPr>
            <a:spLocks noGrp="1"/>
          </p:cNvSpPr>
          <p:nvPr/>
        </p:nvSpPr>
        <p:spPr>
          <a:xfrm>
            <a:off x="6324600" y="2000250"/>
            <a:ext cx="47625" cy="1133475"/>
          </a:xfrm>
          <a:prstGeom prst="roundRect">
            <a:avLst>
              <a:gd name="adj" fmla="val 50000"/>
            </a:avLst>
          </a:prstGeom>
          <a:solidFill>
            <a:srgbClr val="2CA8E0"/>
          </a:solidFill>
          <a:ln w="0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8E8C9A9-B47E-4CAE-BB7C-D04DCC7B6DE3}"/>
              </a:ext>
            </a:extLst>
          </p:cNvPr>
          <p:cNvSpPr>
            <a:spLocks noGrp="1"/>
          </p:cNvSpPr>
          <p:nvPr/>
        </p:nvSpPr>
        <p:spPr>
          <a:xfrm>
            <a:off x="6477000" y="2105025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2CA8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CA8E0"/>
                </a:solidFill>
                <a:latin typeface="Microsoft YaHei"/>
                <a:ea typeface="Microsoft YaHei"/>
                <a:cs typeface="Microsoft YaHei"/>
              </a:rPr>
              <a:t>2025.11–2026.04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C13045B-4F8A-43EA-9797-4F88DFFE26B8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039"/>
          </a:bodyPr>
          <a:lstStyle/>
          <a:p>
            <a:pPr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平台总体架构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D31BCC1-5B88-4F5B-B660-53718D1D83FF}"/>
              </a:ext>
            </a:extLst>
          </p:cNvPr>
          <p:cNvSpPr>
            <a:spLocks noGrp="1"/>
          </p:cNvSpPr>
          <p:nvPr/>
        </p:nvSpPr>
        <p:spPr>
          <a:xfrm>
            <a:off x="6477000" y="24955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系统级架构师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B969098-EF51-40BC-B707-BE2513A767F5}"/>
              </a:ext>
            </a:extLst>
          </p:cNvPr>
          <p:cNvSpPr>
            <a:spLocks noGrp="1"/>
          </p:cNvSpPr>
          <p:nvPr/>
        </p:nvSpPr>
        <p:spPr>
          <a:xfrm>
            <a:off x="6477000" y="2714625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59838" lnSpcReduction="10000"/>
          </a:bodyPr>
          <a:lstStyle/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统筹控制面、元数据、缓存与计算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建立端到端架构与演进路径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让异构通算、智算资源与数据链路协同起来</a:t>
            </a: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5EC09C9-5086-4A09-B481-0FB3C7979A2E}"/>
              </a:ext>
            </a:extLst>
          </p:cNvPr>
          <p:cNvSpPr>
            <a:spLocks noGrp="1"/>
          </p:cNvSpPr>
          <p:nvPr/>
        </p:nvSpPr>
        <p:spPr>
          <a:xfrm>
            <a:off x="7296150" y="3124200"/>
            <a:ext cx="266700" cy="266700"/>
          </a:xfrm>
          <a:prstGeom prst="ellipse">
            <a:avLst/>
          </a:prstGeom>
          <a:solidFill>
            <a:srgbClr val="2CA8E0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ABB681B-A251-473F-9563-80A75A2E0B5D}"/>
              </a:ext>
            </a:extLst>
          </p:cNvPr>
          <p:cNvSpPr>
            <a:spLocks noGrp="1"/>
          </p:cNvSpPr>
          <p:nvPr/>
        </p:nvSpPr>
        <p:spPr>
          <a:xfrm>
            <a:off x="7353300" y="3190875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F30E0B1-E3FB-43A3-A4E9-AE4363BAC690}"/>
              </a:ext>
            </a:extLst>
          </p:cNvPr>
          <p:cNvSpPr>
            <a:spLocks noGrp="1"/>
          </p:cNvSpPr>
          <p:nvPr/>
        </p:nvSpPr>
        <p:spPr>
          <a:xfrm>
            <a:off x="8905875" y="3543300"/>
            <a:ext cx="2524125" cy="1200150"/>
          </a:xfrm>
          <a:prstGeom prst="roundRect">
            <a:avLst>
              <a:gd name="adj" fmla="val 6349"/>
            </a:avLst>
          </a:prstGeom>
          <a:solidFill>
            <a:srgbClr val="EDF9F2"/>
          </a:solidFill>
          <a:ln w="9525">
            <a:solidFill>
              <a:srgbClr val="D6E2ED"/>
            </a:solidFill>
            <a:prstDash val="solid"/>
          </a:ln>
        </p:spPr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BAECB60-E1FE-4ACF-8946-FDF7459BEEB4}"/>
              </a:ext>
            </a:extLst>
          </p:cNvPr>
          <p:cNvSpPr>
            <a:spLocks noGrp="1"/>
          </p:cNvSpPr>
          <p:nvPr/>
        </p:nvSpPr>
        <p:spPr>
          <a:xfrm>
            <a:off x="8905875" y="3543300"/>
            <a:ext cx="47625" cy="1200150"/>
          </a:xfrm>
          <a:prstGeom prst="roundRect">
            <a:avLst>
              <a:gd name="adj" fmla="val 50000"/>
            </a:avLst>
          </a:prstGeom>
          <a:solidFill>
            <a:srgbClr val="27A36B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F09F9B3-381F-42A1-B9B2-47273B31BFE5}"/>
              </a:ext>
            </a:extLst>
          </p:cNvPr>
          <p:cNvSpPr>
            <a:spLocks noGrp="1"/>
          </p:cNvSpPr>
          <p:nvPr/>
        </p:nvSpPr>
        <p:spPr>
          <a:xfrm>
            <a:off x="9058275" y="3648075"/>
            <a:ext cx="2238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27A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7A36B"/>
                </a:solidFill>
                <a:latin typeface="Microsoft YaHei"/>
                <a:ea typeface="Microsoft YaHei"/>
                <a:cs typeface="Microsoft YaHei"/>
              </a:rPr>
              <a:t>2026.05–至今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44D286-39FF-492C-8CDA-748F043A1112}"/>
              </a:ext>
            </a:extLst>
          </p:cNvPr>
          <p:cNvSpPr>
            <a:spLocks noGrp="1"/>
          </p:cNvSpPr>
          <p:nvPr/>
        </p:nvSpPr>
        <p:spPr>
          <a:xfrm>
            <a:off x="9058275" y="3838575"/>
            <a:ext cx="2257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039"/>
          </a:bodyPr>
          <a:lstStyle/>
          <a:p>
            <a:pPr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Aura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B31097E-80C5-4B10-A9F2-2150182722CD}"/>
              </a:ext>
            </a:extLst>
          </p:cNvPr>
          <p:cNvSpPr>
            <a:spLocks noGrp="1"/>
          </p:cNvSpPr>
          <p:nvPr/>
        </p:nvSpPr>
        <p:spPr>
          <a:xfrm>
            <a:off x="9058275" y="4038600"/>
            <a:ext cx="22574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10+ 人团队负责人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ED496EC-A31B-428B-9E51-4DC902841CFF}"/>
              </a:ext>
            </a:extLst>
          </p:cNvPr>
          <p:cNvSpPr>
            <a:spLocks noGrp="1"/>
          </p:cNvSpPr>
          <p:nvPr/>
        </p:nvSpPr>
        <p:spPr>
          <a:xfrm>
            <a:off x="9058275" y="4257675"/>
            <a:ext cx="2257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79306" lnSpcReduction="10000"/>
          </a:bodyPr>
          <a:lstStyle/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构建多模态处理、弹性调度、向量湖检索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联动 Ray、缓存、元数据和资源底座团队</a:t>
            </a:r>
          </a:p>
          <a:p>
            <a:pPr>
              <a:lnSpc>
                <a:spcPct val="112000"/>
              </a:lnSpc>
              <a:buNone/>
              <a:def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B6678"/>
                </a:solidFill>
                <a:latin typeface="Microsoft YaHei"/>
                <a:ea typeface="Microsoft YaHei"/>
                <a:cs typeface="Microsoft YaHei"/>
              </a:rPr>
              <a:t>面向大规模向量湖与多模数据处理建立竞争力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E7F743E2-8CB2-47DA-8DAD-9220EB9647BF}"/>
              </a:ext>
            </a:extLst>
          </p:cNvPr>
          <p:cNvSpPr>
            <a:spLocks noGrp="1"/>
          </p:cNvSpPr>
          <p:nvPr/>
        </p:nvSpPr>
        <p:spPr>
          <a:xfrm>
            <a:off x="9772650" y="2324100"/>
            <a:ext cx="266700" cy="266700"/>
          </a:xfrm>
          <a:prstGeom prst="ellipse">
            <a:avLst/>
          </a:prstGeom>
          <a:solidFill>
            <a:srgbClr val="27A36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40875E6-570C-470C-8F69-7CA82F29FE62}"/>
              </a:ext>
            </a:extLst>
          </p:cNvPr>
          <p:cNvSpPr>
            <a:spLocks noGrp="1"/>
          </p:cNvSpPr>
          <p:nvPr/>
        </p:nvSpPr>
        <p:spPr>
          <a:xfrm>
            <a:off x="9829800" y="2390775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3DCD500-2F72-4DDC-A1CA-C864F43CF4F9}"/>
              </a:ext>
            </a:extLst>
          </p:cNvPr>
          <p:cNvSpPr>
            <a:spLocks noGrp="1"/>
          </p:cNvSpPr>
          <p:nvPr/>
        </p:nvSpPr>
        <p:spPr>
          <a:xfrm>
            <a:off x="590550" y="5867400"/>
            <a:ext cx="10991850" cy="438150"/>
          </a:xfrm>
          <a:prstGeom prst="roundRect">
            <a:avLst>
              <a:gd name="adj" fmla="val 17391"/>
            </a:avLst>
          </a:prstGeom>
          <a:solidFill>
            <a:srgbClr val="F6F9FC"/>
          </a:solidFill>
          <a:ln w="0"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C58C2F0-4A94-4873-8D21-E2787172759A}"/>
              </a:ext>
            </a:extLst>
          </p:cNvPr>
          <p:cNvSpPr>
            <a:spLocks noGrp="1"/>
          </p:cNvSpPr>
          <p:nvPr/>
        </p:nvSpPr>
        <p:spPr>
          <a:xfrm>
            <a:off x="838200" y="60007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275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4B78"/>
                </a:solidFill>
                <a:latin typeface="Microsoft YaHei"/>
                <a:ea typeface="Microsoft YaHei"/>
                <a:cs typeface="Microsoft YaHei"/>
              </a:rPr>
              <a:t>成长的尺度，不只看承担的模块，更看能否把分散的技术、团队和场景汇成持续演进的平台能力。</a:t>
            </a:r>
          </a:p>
        </p:txBody>
      </p:sp>
    </p:spTree>
    <p:extLst>
      <p:ext uri="{BB962C8B-B14F-4D97-AF65-F5344CB8AC3E}">
        <p14:creationId xmlns:p14="http://schemas.microsoft.com/office/powerpoint/2010/main" val="1396716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20492DFE-E3DD-4F04-AD68-9C62B799F8A0}"/>
              </a:ext>
            </a:extLst>
          </p:cNvPr>
          <p:cNvSpPr>
            <a:spLocks noGrp="1"/>
          </p:cNvSpPr>
          <p:nvPr/>
        </p:nvSpPr>
        <p:spPr>
          <a:xfrm>
            <a:off x="514350" y="295275"/>
            <a:ext cx="866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由点及面：在平台架构中成长为系统级架构师与团队负责人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785949-E74B-40F5-9DA7-DCE2620BAA4B}"/>
              </a:ext>
            </a:extLst>
          </p:cNvPr>
          <p:cNvSpPr>
            <a:spLocks noGrp="1"/>
          </p:cNvSpPr>
          <p:nvPr/>
        </p:nvSpPr>
        <p:spPr>
          <a:xfrm>
            <a:off x="533400" y="771525"/>
            <a:ext cx="9144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13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313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一件事：大数据 Serverless 化处理平台。个人成长沿技术栈向上延展，最终牵引平台竞争力。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0EE9A6-9E09-4221-AEBD-AFEA778EA4A3}"/>
              </a:ext>
            </a:extLst>
          </p:cNvPr>
          <p:cNvSpPr>
            <a:spLocks noGrp="1"/>
          </p:cNvSpPr>
          <p:nvPr/>
        </p:nvSpPr>
        <p:spPr>
          <a:xfrm>
            <a:off x="10039350" y="361950"/>
            <a:ext cx="1581150" cy="419100"/>
          </a:xfrm>
          <a:prstGeom prst="roundRect">
            <a:avLst>
              <a:gd name="adj" fmla="val 50000"/>
            </a:avLst>
          </a:prstGeom>
          <a:solidFill>
            <a:srgbClr val="EFF3F8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A34ACF-1465-4040-9337-DB1D3A177980}"/>
              </a:ext>
            </a:extLst>
          </p:cNvPr>
          <p:cNvSpPr>
            <a:spLocks noGrp="1"/>
          </p:cNvSpPr>
          <p:nvPr/>
        </p:nvSpPr>
        <p:spPr>
          <a:xfrm>
            <a:off x="10039350" y="485775"/>
            <a:ext cx="15811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1">
                <a:solidFill>
                  <a:srgbClr val="1D4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63" b="1" i="0" u="none" strike="noStrike" kern="1200" cap="none" spc="0" normalizeH="0" baseline="0" noProof="0">
                <a:ln>
                  <a:noFill/>
                </a:ln>
                <a:solidFill>
                  <a:srgbClr val="1D4D7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领域灯塔 · 专家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1841EBE-EA5D-4026-8AB0-C2B583BDE34C}"/>
              </a:ext>
            </a:extLst>
          </p:cNvPr>
          <p:cNvSpPr>
            <a:spLocks noGrp="1"/>
          </p:cNvSpPr>
          <p:nvPr/>
        </p:nvSpPr>
        <p:spPr>
          <a:xfrm>
            <a:off x="542925" y="1171575"/>
            <a:ext cx="7191375" cy="266700"/>
          </a:xfrm>
          <a:prstGeom prst="roundRect">
            <a:avLst>
              <a:gd name="adj" fmla="val 21429"/>
            </a:avLst>
          </a:prstGeom>
          <a:solidFill>
            <a:srgbClr val="F6F9F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44AD44-6111-45B2-8584-BFB67B39603D}"/>
              </a:ext>
            </a:extLst>
          </p:cNvPr>
          <p:cNvSpPr>
            <a:spLocks noGrp="1"/>
          </p:cNvSpPr>
          <p:nvPr/>
        </p:nvSpPr>
        <p:spPr>
          <a:xfrm>
            <a:off x="714375" y="1238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9412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1">
                <a:solidFill>
                  <a:srgbClr val="1D4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88" b="1" i="0" u="none" strike="noStrike" kern="1200" cap="none" spc="0" normalizeH="0" baseline="0" noProof="0">
                <a:ln>
                  <a:noFill/>
                </a:ln>
                <a:solidFill>
                  <a:srgbClr val="1D4D7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平台架构：从底层异构资源，到上层自研引擎 Aura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5E74CA7-CFA5-4DBD-9CF9-9C4D3A488346}"/>
              </a:ext>
            </a:extLst>
          </p:cNvPr>
          <p:cNvSpPr>
            <a:spLocks noGrp="1"/>
          </p:cNvSpPr>
          <p:nvPr/>
        </p:nvSpPr>
        <p:spPr>
          <a:xfrm>
            <a:off x="8534400" y="1171575"/>
            <a:ext cx="3095625" cy="266700"/>
          </a:xfrm>
          <a:prstGeom prst="roundRect">
            <a:avLst>
              <a:gd name="adj" fmla="val 21429"/>
            </a:avLst>
          </a:prstGeom>
          <a:solidFill>
            <a:srgbClr val="F6F9FC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2A5A86-42A9-4F1B-8E64-28655E0D1573}"/>
              </a:ext>
            </a:extLst>
          </p:cNvPr>
          <p:cNvSpPr>
            <a:spLocks noGrp="1"/>
          </p:cNvSpPr>
          <p:nvPr/>
        </p:nvSpPr>
        <p:spPr>
          <a:xfrm>
            <a:off x="8686800" y="1238250"/>
            <a:ext cx="2781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9412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1">
                <a:solidFill>
                  <a:srgbClr val="1D4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88" b="1" i="0" u="none" strike="noStrike" kern="1200" cap="none" spc="0" normalizeH="0" baseline="0" noProof="0">
                <a:ln>
                  <a:noFill/>
                </a:ln>
                <a:solidFill>
                  <a:srgbClr val="1D4D7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个人角色：从模块骨干到团队负责人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1B41C7F-C150-44C0-A2BC-2BDCF65730DE}"/>
              </a:ext>
            </a:extLst>
          </p:cNvPr>
          <p:cNvSpPr>
            <a:spLocks noGrp="1"/>
          </p:cNvSpPr>
          <p:nvPr/>
        </p:nvSpPr>
        <p:spPr>
          <a:xfrm>
            <a:off x="542925" y="1552575"/>
            <a:ext cx="7191375" cy="781050"/>
          </a:xfrm>
          <a:prstGeom prst="roundRect">
            <a:avLst>
              <a:gd name="adj" fmla="val 14634"/>
            </a:avLst>
          </a:prstGeom>
          <a:solidFill>
            <a:srgbClr val="EAF8F1"/>
          </a:solidFill>
          <a:ln w="9525">
            <a:solidFill>
              <a:srgbClr val="1C9C68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850246C-6E4E-4218-8CEF-E5002E01FBFE}"/>
              </a:ext>
            </a:extLst>
          </p:cNvPr>
          <p:cNvSpPr>
            <a:spLocks noGrp="1"/>
          </p:cNvSpPr>
          <p:nvPr/>
        </p:nvSpPr>
        <p:spPr>
          <a:xfrm>
            <a:off x="542925" y="1552575"/>
            <a:ext cx="95250" cy="781050"/>
          </a:xfrm>
          <a:prstGeom prst="roundRect">
            <a:avLst>
              <a:gd name="adj" fmla="val 50000"/>
            </a:avLst>
          </a:prstGeom>
          <a:solidFill>
            <a:srgbClr val="1C9C6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72B159-9ADD-4096-872C-79D5EBD41352}"/>
              </a:ext>
            </a:extLst>
          </p:cNvPr>
          <p:cNvSpPr>
            <a:spLocks noGrp="1"/>
          </p:cNvSpPr>
          <p:nvPr/>
        </p:nvSpPr>
        <p:spPr>
          <a:xfrm>
            <a:off x="828675" y="1685925"/>
            <a:ext cx="2714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583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Aura｜自研多模态数据处理引擎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955758-BAA9-40A1-8121-4CD1051E9C29}"/>
              </a:ext>
            </a:extLst>
          </p:cNvPr>
          <p:cNvSpPr>
            <a:spLocks noGrp="1"/>
          </p:cNvSpPr>
          <p:nvPr/>
        </p:nvSpPr>
        <p:spPr>
          <a:xfrm>
            <a:off x="828675" y="1933575"/>
            <a:ext cx="2667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当前带领 10+ 人团队构建系统技术竞争力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F4CB661-879B-41B8-8F92-573862536E82}"/>
              </a:ext>
            </a:extLst>
          </p:cNvPr>
          <p:cNvSpPr>
            <a:spLocks noGrp="1"/>
          </p:cNvSpPr>
          <p:nvPr/>
        </p:nvSpPr>
        <p:spPr>
          <a:xfrm>
            <a:off x="3686175" y="1733550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5CB645-434A-4DA3-B576-EC09F8CD2332}"/>
              </a:ext>
            </a:extLst>
          </p:cNvPr>
          <p:cNvSpPr>
            <a:spLocks noGrp="1"/>
          </p:cNvSpPr>
          <p:nvPr/>
        </p:nvSpPr>
        <p:spPr>
          <a:xfrm>
            <a:off x="3762375" y="18288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1C9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1C9C6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多模数据处理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2A0DDEE-4A19-4705-ABB7-83271044042E}"/>
              </a:ext>
            </a:extLst>
          </p:cNvPr>
          <p:cNvSpPr>
            <a:spLocks noGrp="1"/>
          </p:cNvSpPr>
          <p:nvPr/>
        </p:nvSpPr>
        <p:spPr>
          <a:xfrm>
            <a:off x="5000625" y="1733550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F15C91-8A98-407A-A219-FDDC907D5A99}"/>
              </a:ext>
            </a:extLst>
          </p:cNvPr>
          <p:cNvSpPr>
            <a:spLocks noGrp="1"/>
          </p:cNvSpPr>
          <p:nvPr/>
        </p:nvSpPr>
        <p:spPr>
          <a:xfrm>
            <a:off x="5076825" y="18288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1C9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1C9C6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弹性调度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8E81486-C83A-4775-956A-DD525C71F24F}"/>
              </a:ext>
            </a:extLst>
          </p:cNvPr>
          <p:cNvSpPr>
            <a:spLocks noGrp="1"/>
          </p:cNvSpPr>
          <p:nvPr/>
        </p:nvSpPr>
        <p:spPr>
          <a:xfrm>
            <a:off x="6315075" y="1733550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CF294A-D1FA-451C-976A-C2C88A5528EC}"/>
              </a:ext>
            </a:extLst>
          </p:cNvPr>
          <p:cNvSpPr>
            <a:spLocks noGrp="1"/>
          </p:cNvSpPr>
          <p:nvPr/>
        </p:nvSpPr>
        <p:spPr>
          <a:xfrm>
            <a:off x="6391275" y="18288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1C9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1C9C6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向量湖检索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46CD64F-7E1C-4D85-A2B5-BC4BB8F0DAB2}"/>
              </a:ext>
            </a:extLst>
          </p:cNvPr>
          <p:cNvSpPr>
            <a:spLocks noGrp="1"/>
          </p:cNvSpPr>
          <p:nvPr/>
        </p:nvSpPr>
        <p:spPr>
          <a:xfrm>
            <a:off x="542925" y="2438400"/>
            <a:ext cx="7191375" cy="742950"/>
          </a:xfrm>
          <a:prstGeom prst="roundRect">
            <a:avLst>
              <a:gd name="adj" fmla="val 15385"/>
            </a:avLst>
          </a:prstGeom>
          <a:solidFill>
            <a:srgbClr val="E8F8F7"/>
          </a:solidFill>
          <a:ln w="9525">
            <a:solidFill>
              <a:srgbClr val="0E9C9C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7398666-8A1F-4D02-9508-1EDB39DB0C99}"/>
              </a:ext>
            </a:extLst>
          </p:cNvPr>
          <p:cNvSpPr>
            <a:spLocks noGrp="1"/>
          </p:cNvSpPr>
          <p:nvPr/>
        </p:nvSpPr>
        <p:spPr>
          <a:xfrm>
            <a:off x="542925" y="2438400"/>
            <a:ext cx="95250" cy="742950"/>
          </a:xfrm>
          <a:prstGeom prst="roundRect">
            <a:avLst>
              <a:gd name="adj" fmla="val 50000"/>
            </a:avLst>
          </a:prstGeom>
          <a:solidFill>
            <a:srgbClr val="0E9C9C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A59112-A48F-4A17-8749-04A3F702C146}"/>
              </a:ext>
            </a:extLst>
          </p:cNvPr>
          <p:cNvSpPr>
            <a:spLocks noGrp="1"/>
          </p:cNvSpPr>
          <p:nvPr/>
        </p:nvSpPr>
        <p:spPr>
          <a:xfrm>
            <a:off x="828675" y="2571750"/>
            <a:ext cx="2714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583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Ray｜异构 AI 分布式计算引擎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B2A918-8CBB-47D8-BA9E-A74EABC08818}"/>
              </a:ext>
            </a:extLst>
          </p:cNvPr>
          <p:cNvSpPr>
            <a:spLocks noGrp="1"/>
          </p:cNvSpPr>
          <p:nvPr/>
        </p:nvSpPr>
        <p:spPr>
          <a:xfrm>
            <a:off x="828675" y="2819400"/>
            <a:ext cx="2667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计算引擎产品化与复杂业务交付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8FD59CE-DE3B-4177-9986-D57C2D5F462D}"/>
              </a:ext>
            </a:extLst>
          </p:cNvPr>
          <p:cNvSpPr>
            <a:spLocks noGrp="1"/>
          </p:cNvSpPr>
          <p:nvPr/>
        </p:nvSpPr>
        <p:spPr>
          <a:xfrm>
            <a:off x="3686175" y="2619375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13B73E-BB3D-4BED-B1F6-85F89B4E2D47}"/>
              </a:ext>
            </a:extLst>
          </p:cNvPr>
          <p:cNvSpPr>
            <a:spLocks noGrp="1"/>
          </p:cNvSpPr>
          <p:nvPr/>
        </p:nvSpPr>
        <p:spPr>
          <a:xfrm>
            <a:off x="3762375" y="2714625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0E9C9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0E9C9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细粒度调度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FE131CF-7383-49BD-BE22-F14975C9C9FC}"/>
              </a:ext>
            </a:extLst>
          </p:cNvPr>
          <p:cNvSpPr>
            <a:spLocks noGrp="1"/>
          </p:cNvSpPr>
          <p:nvPr/>
        </p:nvSpPr>
        <p:spPr>
          <a:xfrm>
            <a:off x="5000625" y="2619375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F10155-8E88-4EFB-B3A1-204C2B139CC0}"/>
              </a:ext>
            </a:extLst>
          </p:cNvPr>
          <p:cNvSpPr>
            <a:spLocks noGrp="1"/>
          </p:cNvSpPr>
          <p:nvPr/>
        </p:nvSpPr>
        <p:spPr>
          <a:xfrm>
            <a:off x="5076825" y="2714625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0E9C9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0E9C9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异构节点纳管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997145A-8F0E-4FA4-AEBF-2E6D29F1E8E5}"/>
              </a:ext>
            </a:extLst>
          </p:cNvPr>
          <p:cNvSpPr>
            <a:spLocks noGrp="1"/>
          </p:cNvSpPr>
          <p:nvPr/>
        </p:nvSpPr>
        <p:spPr>
          <a:xfrm>
            <a:off x="6315075" y="2619375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B1E0E7-F33F-4147-B004-1B56D7F8C6B6}"/>
              </a:ext>
            </a:extLst>
          </p:cNvPr>
          <p:cNvSpPr>
            <a:spLocks noGrp="1"/>
          </p:cNvSpPr>
          <p:nvPr/>
        </p:nvSpPr>
        <p:spPr>
          <a:xfrm>
            <a:off x="6391275" y="2714625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0E9C9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0E9C9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全托管高可靠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CF788F-F38E-4034-B2E6-B50529CAA9AC}"/>
              </a:ext>
            </a:extLst>
          </p:cNvPr>
          <p:cNvSpPr>
            <a:spLocks noGrp="1"/>
          </p:cNvSpPr>
          <p:nvPr/>
        </p:nvSpPr>
        <p:spPr>
          <a:xfrm>
            <a:off x="542925" y="3286125"/>
            <a:ext cx="7191375" cy="742950"/>
          </a:xfrm>
          <a:prstGeom prst="roundRect">
            <a:avLst>
              <a:gd name="adj" fmla="val 15385"/>
            </a:avLst>
          </a:prstGeom>
          <a:solidFill>
            <a:srgbClr val="EDF5FC"/>
          </a:solidFill>
          <a:ln w="9525">
            <a:solidFill>
              <a:srgbClr val="2F80C7"/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FF27A93-17D7-4AB5-BA23-E19B757529EB}"/>
              </a:ext>
            </a:extLst>
          </p:cNvPr>
          <p:cNvSpPr>
            <a:spLocks noGrp="1"/>
          </p:cNvSpPr>
          <p:nvPr/>
        </p:nvSpPr>
        <p:spPr>
          <a:xfrm>
            <a:off x="542925" y="3286125"/>
            <a:ext cx="95250" cy="742950"/>
          </a:xfrm>
          <a:prstGeom prst="roundRect">
            <a:avLst>
              <a:gd name="adj" fmla="val 50000"/>
            </a:avLst>
          </a:prstGeom>
          <a:solidFill>
            <a:srgbClr val="2F80C7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EF16EC-B216-4766-A5B2-9BB70C494429}"/>
              </a:ext>
            </a:extLst>
          </p:cNvPr>
          <p:cNvSpPr>
            <a:spLocks noGrp="1"/>
          </p:cNvSpPr>
          <p:nvPr/>
        </p:nvSpPr>
        <p:spPr>
          <a:xfrm>
            <a:off x="828675" y="3419475"/>
            <a:ext cx="2714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583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统一数据服务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39735F-43B2-45B2-88CC-77FE98613834}"/>
              </a:ext>
            </a:extLst>
          </p:cNvPr>
          <p:cNvSpPr>
            <a:spLocks noGrp="1"/>
          </p:cNvSpPr>
          <p:nvPr/>
        </p:nvSpPr>
        <p:spPr>
          <a:xfrm>
            <a:off x="828675" y="3667125"/>
            <a:ext cx="2667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元数据治理与近计算侧数据流转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D529C87-3741-41F3-BDAE-21A43912881C}"/>
              </a:ext>
            </a:extLst>
          </p:cNvPr>
          <p:cNvSpPr>
            <a:spLocks noGrp="1"/>
          </p:cNvSpPr>
          <p:nvPr/>
        </p:nvSpPr>
        <p:spPr>
          <a:xfrm>
            <a:off x="3686175" y="3467100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A7D6F5-F2C0-49BA-831B-F12C74A9F5E7}"/>
              </a:ext>
            </a:extLst>
          </p:cNvPr>
          <p:cNvSpPr>
            <a:spLocks noGrp="1"/>
          </p:cNvSpPr>
          <p:nvPr/>
        </p:nvSpPr>
        <p:spPr>
          <a:xfrm>
            <a:off x="3762375" y="356235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2F8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2F80C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LakeFormation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5F7E0B1-403B-4DBE-9A8E-DB54C4CEE562}"/>
              </a:ext>
            </a:extLst>
          </p:cNvPr>
          <p:cNvSpPr>
            <a:spLocks noGrp="1"/>
          </p:cNvSpPr>
          <p:nvPr/>
        </p:nvSpPr>
        <p:spPr>
          <a:xfrm>
            <a:off x="5000625" y="3467100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F842333-9D80-4FDF-B24B-E4593987907E}"/>
              </a:ext>
            </a:extLst>
          </p:cNvPr>
          <p:cNvSpPr>
            <a:spLocks noGrp="1"/>
          </p:cNvSpPr>
          <p:nvPr/>
        </p:nvSpPr>
        <p:spPr>
          <a:xfrm>
            <a:off x="5076825" y="356235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2F8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2F80C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FabricCache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071A676-A992-45D9-956B-5DC374B7406D}"/>
              </a:ext>
            </a:extLst>
          </p:cNvPr>
          <p:cNvSpPr>
            <a:spLocks noGrp="1"/>
          </p:cNvSpPr>
          <p:nvPr/>
        </p:nvSpPr>
        <p:spPr>
          <a:xfrm>
            <a:off x="6315075" y="3467100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2E19FB0-17C2-4581-8232-51BCCC1B9DF0}"/>
              </a:ext>
            </a:extLst>
          </p:cNvPr>
          <p:cNvSpPr>
            <a:spLocks noGrp="1"/>
          </p:cNvSpPr>
          <p:nvPr/>
        </p:nvSpPr>
        <p:spPr>
          <a:xfrm>
            <a:off x="6391275" y="356235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2F8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2F80C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数据免落盘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799E1EB-2CBB-4F60-AAC8-E9963F29DDA1}"/>
              </a:ext>
            </a:extLst>
          </p:cNvPr>
          <p:cNvSpPr>
            <a:spLocks noGrp="1"/>
          </p:cNvSpPr>
          <p:nvPr/>
        </p:nvSpPr>
        <p:spPr>
          <a:xfrm>
            <a:off x="542925" y="4133850"/>
            <a:ext cx="7191375" cy="819150"/>
          </a:xfrm>
          <a:prstGeom prst="roundRect">
            <a:avLst>
              <a:gd name="adj" fmla="val 13953"/>
            </a:avLst>
          </a:prstGeom>
          <a:solidFill>
            <a:srgbClr val="EFF3F8"/>
          </a:solidFill>
          <a:ln w="9525">
            <a:solidFill>
              <a:srgbClr val="546F97"/>
            </a:solidFill>
            <a:prstDash val="solid"/>
          </a:ln>
        </p:spPr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6A987A4-9F33-4AD4-BCAB-979D7D3089DD}"/>
              </a:ext>
            </a:extLst>
          </p:cNvPr>
          <p:cNvSpPr>
            <a:spLocks noGrp="1"/>
          </p:cNvSpPr>
          <p:nvPr/>
        </p:nvSpPr>
        <p:spPr>
          <a:xfrm>
            <a:off x="542925" y="4133850"/>
            <a:ext cx="95250" cy="819150"/>
          </a:xfrm>
          <a:prstGeom prst="roundRect">
            <a:avLst>
              <a:gd name="adj" fmla="val 50000"/>
            </a:avLst>
          </a:prstGeom>
          <a:solidFill>
            <a:srgbClr val="546F97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0C18CD-56E5-46F4-9C39-7D6F3D2358B5}"/>
              </a:ext>
            </a:extLst>
          </p:cNvPr>
          <p:cNvSpPr>
            <a:spLocks noGrp="1"/>
          </p:cNvSpPr>
          <p:nvPr/>
        </p:nvSpPr>
        <p:spPr>
          <a:xfrm>
            <a:off x="828675" y="4267200"/>
            <a:ext cx="2714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583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Serverless 控制面 + 异构资源池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30A2FCD-CDCB-4DCA-8DE4-D52CFBB05537}"/>
              </a:ext>
            </a:extLst>
          </p:cNvPr>
          <p:cNvSpPr>
            <a:spLocks noGrp="1"/>
          </p:cNvSpPr>
          <p:nvPr/>
        </p:nvSpPr>
        <p:spPr>
          <a:xfrm>
            <a:off x="828675" y="4514850"/>
            <a:ext cx="2667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通算、智算资源统一管理与按需弹性供给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E244704-E72D-43DD-BF7F-7E08290CB4F8}"/>
              </a:ext>
            </a:extLst>
          </p:cNvPr>
          <p:cNvSpPr>
            <a:spLocks noGrp="1"/>
          </p:cNvSpPr>
          <p:nvPr/>
        </p:nvSpPr>
        <p:spPr>
          <a:xfrm>
            <a:off x="3686175" y="4314825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C408C3A-5CE9-467B-A232-CEF071F2290A}"/>
              </a:ext>
            </a:extLst>
          </p:cNvPr>
          <p:cNvSpPr>
            <a:spLocks noGrp="1"/>
          </p:cNvSpPr>
          <p:nvPr/>
        </p:nvSpPr>
        <p:spPr>
          <a:xfrm>
            <a:off x="3762375" y="4410075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54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546F9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CPU / NPU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05E8E9F-7950-4C5E-9C80-56C23378D4EC}"/>
              </a:ext>
            </a:extLst>
          </p:cNvPr>
          <p:cNvSpPr>
            <a:spLocks noGrp="1"/>
          </p:cNvSpPr>
          <p:nvPr/>
        </p:nvSpPr>
        <p:spPr>
          <a:xfrm>
            <a:off x="5000625" y="4314825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05EEAB6-7B19-4DD3-A267-8ED5DD6909B9}"/>
              </a:ext>
            </a:extLst>
          </p:cNvPr>
          <p:cNvSpPr>
            <a:spLocks noGrp="1"/>
          </p:cNvSpPr>
          <p:nvPr/>
        </p:nvSpPr>
        <p:spPr>
          <a:xfrm>
            <a:off x="5076825" y="4410075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54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546F9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弹性伸缩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41BEBF4-A542-4812-A76F-9D55BCD377E6}"/>
              </a:ext>
            </a:extLst>
          </p:cNvPr>
          <p:cNvSpPr>
            <a:spLocks noGrp="1"/>
          </p:cNvSpPr>
          <p:nvPr/>
        </p:nvSpPr>
        <p:spPr>
          <a:xfrm>
            <a:off x="6315075" y="4314825"/>
            <a:ext cx="120015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5E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C76BCE9-C6DB-4603-8ED2-746BF6E89097}"/>
              </a:ext>
            </a:extLst>
          </p:cNvPr>
          <p:cNvSpPr>
            <a:spLocks noGrp="1"/>
          </p:cNvSpPr>
          <p:nvPr/>
        </p:nvSpPr>
        <p:spPr>
          <a:xfrm>
            <a:off x="6391275" y="4410075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3" b="1">
                <a:solidFill>
                  <a:srgbClr val="54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013" b="1" i="0" u="none" strike="noStrike" kern="1200" cap="none" spc="0" normalizeH="0" baseline="0" noProof="0">
                <a:ln>
                  <a:noFill/>
                </a:ln>
                <a:solidFill>
                  <a:srgbClr val="546F9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资源管控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1C6D97E-E999-492B-B61B-18D75C37F774}"/>
              </a:ext>
            </a:extLst>
          </p:cNvPr>
          <p:cNvSpPr>
            <a:spLocks noGrp="1"/>
          </p:cNvSpPr>
          <p:nvPr/>
        </p:nvSpPr>
        <p:spPr>
          <a:xfrm>
            <a:off x="7886700" y="1514475"/>
            <a:ext cx="571500" cy="3476625"/>
          </a:xfrm>
          <a:prstGeom prst="roundRect">
            <a:avLst>
              <a:gd name="adj" fmla="val 13333"/>
            </a:avLst>
          </a:prstGeom>
          <a:solidFill>
            <a:srgbClr val="FFF5DF"/>
          </a:solidFill>
          <a:ln w="9525">
            <a:solidFill>
              <a:srgbClr val="F1A83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A637E3F-4C94-4F64-85C4-C6A84FCECC32}"/>
              </a:ext>
            </a:extLst>
          </p:cNvPr>
          <p:cNvSpPr>
            <a:spLocks noGrp="1"/>
          </p:cNvSpPr>
          <p:nvPr/>
        </p:nvSpPr>
        <p:spPr>
          <a:xfrm>
            <a:off x="7943850" y="180975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B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B56A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系统级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B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B56A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架构师</a:t>
            </a:r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E4D64B6C-E0E9-4C33-8198-1E19BF2A255B}"/>
              </a:ext>
            </a:extLst>
          </p:cNvPr>
          <p:cNvSpPr>
            <a:spLocks noGrp="1"/>
          </p:cNvSpPr>
          <p:nvPr/>
        </p:nvSpPr>
        <p:spPr>
          <a:xfrm>
            <a:off x="8172450" y="2324100"/>
            <a:ext cx="0" cy="2209800"/>
          </a:xfrm>
          <a:prstGeom prst="line">
            <a:avLst/>
          </a:prstGeom>
          <a:noFill/>
          <a:ln w="19050">
            <a:solidFill>
              <a:srgbClr val="F1A83A"/>
            </a:solidFill>
            <a:prstDash val="dash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3912D22-E8D1-493C-B6D5-5301B5806477}"/>
              </a:ext>
            </a:extLst>
          </p:cNvPr>
          <p:cNvSpPr>
            <a:spLocks noGrp="1"/>
          </p:cNvSpPr>
          <p:nvPr/>
        </p:nvSpPr>
        <p:spPr>
          <a:xfrm>
            <a:off x="7943850" y="451485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68801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B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63" b="1" i="0" u="none" strike="noStrike" kern="1200" cap="none" spc="0" normalizeH="0" baseline="0" noProof="0">
                <a:ln>
                  <a:noFill/>
                </a:ln>
                <a:solidFill>
                  <a:srgbClr val="B56A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统一资源、数据、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3" b="1">
                <a:solidFill>
                  <a:srgbClr val="B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63" b="1" i="0" u="none" strike="noStrike" kern="1200" cap="none" spc="0" normalizeH="0" baseline="0" noProof="0">
                <a:ln>
                  <a:noFill/>
                </a:ln>
                <a:solidFill>
                  <a:srgbClr val="B56A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计算的演进路径</a:t>
            </a:r>
          </a:p>
        </p:txBody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8FC12BE3-9981-4CBD-9F3D-7A45304CB04D}"/>
              </a:ext>
            </a:extLst>
          </p:cNvPr>
          <p:cNvSpPr>
            <a:spLocks noGrp="1"/>
          </p:cNvSpPr>
          <p:nvPr/>
        </p:nvSpPr>
        <p:spPr>
          <a:xfrm>
            <a:off x="7734300" y="1943100"/>
            <a:ext cx="742950" cy="0"/>
          </a:xfrm>
          <a:prstGeom prst="line">
            <a:avLst/>
          </a:prstGeom>
          <a:noFill/>
          <a:ln w="19050">
            <a:solidFill>
              <a:srgbClr val="1C9C68"/>
            </a:solidFill>
            <a:prstDash val="dash"/>
          </a:ln>
        </p:spPr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981E30ED-E9B6-47D8-AEBD-D49C183E9A93}"/>
              </a:ext>
            </a:extLst>
          </p:cNvPr>
          <p:cNvSpPr>
            <a:spLocks noGrp="1"/>
          </p:cNvSpPr>
          <p:nvPr/>
        </p:nvSpPr>
        <p:spPr>
          <a:xfrm>
            <a:off x="7734300" y="2809875"/>
            <a:ext cx="742950" cy="0"/>
          </a:xfrm>
          <a:prstGeom prst="line">
            <a:avLst/>
          </a:prstGeom>
          <a:noFill/>
          <a:ln w="19050">
            <a:solidFill>
              <a:srgbClr val="0E9C9C"/>
            </a:solidFill>
            <a:prstDash val="dash"/>
          </a:ln>
        </p:spPr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6948B07-07E4-41A9-B26A-93BFD14D7D7F}"/>
              </a:ext>
            </a:extLst>
          </p:cNvPr>
          <p:cNvSpPr>
            <a:spLocks noGrp="1"/>
          </p:cNvSpPr>
          <p:nvPr/>
        </p:nvSpPr>
        <p:spPr>
          <a:xfrm>
            <a:off x="7734300" y="3657600"/>
            <a:ext cx="742950" cy="0"/>
          </a:xfrm>
          <a:prstGeom prst="line">
            <a:avLst/>
          </a:prstGeom>
          <a:noFill/>
          <a:ln w="19050">
            <a:solidFill>
              <a:srgbClr val="2F80C7"/>
            </a:solidFill>
            <a:prstDash val="dash"/>
          </a:ln>
        </p:spPr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65BB1BB3-63CA-48FF-A8EF-7F3E7A7FF1C1}"/>
              </a:ext>
            </a:extLst>
          </p:cNvPr>
          <p:cNvSpPr>
            <a:spLocks noGrp="1"/>
          </p:cNvSpPr>
          <p:nvPr/>
        </p:nvSpPr>
        <p:spPr>
          <a:xfrm>
            <a:off x="7734300" y="4552950"/>
            <a:ext cx="742950" cy="0"/>
          </a:xfrm>
          <a:prstGeom prst="line">
            <a:avLst/>
          </a:prstGeom>
          <a:noFill/>
          <a:ln w="19050">
            <a:solidFill>
              <a:srgbClr val="F1A83A"/>
            </a:solidFill>
            <a:prstDash val="dash"/>
          </a:ln>
        </p:spPr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639F31C-14A7-4487-B5E3-A7B1D3A37FF7}"/>
              </a:ext>
            </a:extLst>
          </p:cNvPr>
          <p:cNvSpPr>
            <a:spLocks noGrp="1"/>
          </p:cNvSpPr>
          <p:nvPr/>
        </p:nvSpPr>
        <p:spPr>
          <a:xfrm>
            <a:off x="8534400" y="1504950"/>
            <a:ext cx="3095625" cy="876300"/>
          </a:xfrm>
          <a:prstGeom prst="roundRect">
            <a:avLst>
              <a:gd name="adj" fmla="val 8696"/>
            </a:avLst>
          </a:prstGeom>
          <a:solidFill>
            <a:srgbClr val="EAF8F1"/>
          </a:solidFill>
          <a:ln w="9525">
            <a:solidFill>
              <a:srgbClr val="D7E2EC"/>
            </a:solidFill>
            <a:prstDash val="solid"/>
          </a:ln>
        </p:spPr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376271B-36BC-4EC3-922F-76ADF4767ED5}"/>
              </a:ext>
            </a:extLst>
          </p:cNvPr>
          <p:cNvSpPr>
            <a:spLocks noGrp="1"/>
          </p:cNvSpPr>
          <p:nvPr/>
        </p:nvSpPr>
        <p:spPr>
          <a:xfrm>
            <a:off x="8534400" y="1504950"/>
            <a:ext cx="66675" cy="876300"/>
          </a:xfrm>
          <a:prstGeom prst="roundRect">
            <a:avLst>
              <a:gd name="adj" fmla="val 50000"/>
            </a:avLst>
          </a:prstGeom>
          <a:solidFill>
            <a:srgbClr val="1C9C68"/>
          </a:solidFill>
          <a:ln w="0">
            <a:noFill/>
            <a:prstDash val="solid"/>
          </a:ln>
        </p:spPr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34102F42-A5DD-405E-9C08-B925E452DCA2}"/>
              </a:ext>
            </a:extLst>
          </p:cNvPr>
          <p:cNvSpPr>
            <a:spLocks noGrp="1"/>
          </p:cNvSpPr>
          <p:nvPr/>
        </p:nvSpPr>
        <p:spPr>
          <a:xfrm>
            <a:off x="8734425" y="1647825"/>
            <a:ext cx="257175" cy="257175"/>
          </a:xfrm>
          <a:prstGeom prst="ellipse">
            <a:avLst/>
          </a:prstGeom>
          <a:solidFill>
            <a:srgbClr val="1C9C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3C4834D-F79E-402E-929A-9B01EC343874}"/>
              </a:ext>
            </a:extLst>
          </p:cNvPr>
          <p:cNvSpPr>
            <a:spLocks noGrp="1"/>
          </p:cNvSpPr>
          <p:nvPr/>
        </p:nvSpPr>
        <p:spPr>
          <a:xfrm>
            <a:off x="8810625" y="1704975"/>
            <a:ext cx="1047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85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AB0F72D-E8D6-41EA-9BC6-29BDC3AF688B}"/>
              </a:ext>
            </a:extLst>
          </p:cNvPr>
          <p:cNvSpPr>
            <a:spLocks noGrp="1"/>
          </p:cNvSpPr>
          <p:nvPr/>
        </p:nvSpPr>
        <p:spPr>
          <a:xfrm>
            <a:off x="9086850" y="16192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1C9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C9C6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2026.05–至今｜面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1170AD7-4ECD-48FA-A9A5-CF3B0478B1EB}"/>
              </a:ext>
            </a:extLst>
          </p:cNvPr>
          <p:cNvSpPr>
            <a:spLocks noGrp="1"/>
          </p:cNvSpPr>
          <p:nvPr/>
        </p:nvSpPr>
        <p:spPr>
          <a:xfrm>
            <a:off x="9086850" y="1809750"/>
            <a:ext cx="2324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Aura 团队负责人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CEC6C61-1032-487A-9099-F3F03C3A62D8}"/>
              </a:ext>
            </a:extLst>
          </p:cNvPr>
          <p:cNvSpPr>
            <a:spLocks noGrp="1"/>
          </p:cNvSpPr>
          <p:nvPr/>
        </p:nvSpPr>
        <p:spPr>
          <a:xfrm>
            <a:off x="9086850" y="2038350"/>
            <a:ext cx="2343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86374"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带领 10+ 人，联动周边组件团队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构建多模态处理与规模化检索竞争力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49B5031-1779-4757-BBD7-7035D806626D}"/>
              </a:ext>
            </a:extLst>
          </p:cNvPr>
          <p:cNvSpPr>
            <a:spLocks noGrp="1"/>
          </p:cNvSpPr>
          <p:nvPr/>
        </p:nvSpPr>
        <p:spPr>
          <a:xfrm>
            <a:off x="8534400" y="2371725"/>
            <a:ext cx="3095625" cy="876300"/>
          </a:xfrm>
          <a:prstGeom prst="roundRect">
            <a:avLst>
              <a:gd name="adj" fmla="val 8696"/>
            </a:avLst>
          </a:prstGeom>
          <a:solidFill>
            <a:srgbClr val="E8F8F7"/>
          </a:solidFill>
          <a:ln w="9525">
            <a:solidFill>
              <a:srgbClr val="D7E2EC"/>
            </a:solidFill>
            <a:prstDash val="solid"/>
          </a:ln>
        </p:spPr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BA067F32-8068-4EF2-B18E-644DA3FCFF37}"/>
              </a:ext>
            </a:extLst>
          </p:cNvPr>
          <p:cNvSpPr>
            <a:spLocks noGrp="1"/>
          </p:cNvSpPr>
          <p:nvPr/>
        </p:nvSpPr>
        <p:spPr>
          <a:xfrm>
            <a:off x="8534400" y="237172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0E9C9C"/>
          </a:solidFill>
          <a:ln w="0">
            <a:noFill/>
            <a:prstDash val="solid"/>
          </a:ln>
        </p:spPr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F06B660E-6486-4D99-AB6C-0F2EC5A294BD}"/>
              </a:ext>
            </a:extLst>
          </p:cNvPr>
          <p:cNvSpPr>
            <a:spLocks noGrp="1"/>
          </p:cNvSpPr>
          <p:nvPr/>
        </p:nvSpPr>
        <p:spPr>
          <a:xfrm>
            <a:off x="8734425" y="2514600"/>
            <a:ext cx="257175" cy="257175"/>
          </a:xfrm>
          <a:prstGeom prst="ellipse">
            <a:avLst/>
          </a:prstGeom>
          <a:solidFill>
            <a:srgbClr val="0E9C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A77EF44-5794-4583-82C0-3385C4D8330C}"/>
              </a:ext>
            </a:extLst>
          </p:cNvPr>
          <p:cNvSpPr>
            <a:spLocks noGrp="1"/>
          </p:cNvSpPr>
          <p:nvPr/>
        </p:nvSpPr>
        <p:spPr>
          <a:xfrm>
            <a:off x="8810625" y="2571750"/>
            <a:ext cx="1047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85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67088C6-E817-4C40-A485-FBB246A450FD}"/>
              </a:ext>
            </a:extLst>
          </p:cNvPr>
          <p:cNvSpPr>
            <a:spLocks noGrp="1"/>
          </p:cNvSpPr>
          <p:nvPr/>
        </p:nvSpPr>
        <p:spPr>
          <a:xfrm>
            <a:off x="9086850" y="24860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0E9C9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0E9C9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2024–2025｜线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D856B2D-363D-41D9-B292-306372AFD6CB}"/>
              </a:ext>
            </a:extLst>
          </p:cNvPr>
          <p:cNvSpPr>
            <a:spLocks noGrp="1"/>
          </p:cNvSpPr>
          <p:nvPr/>
        </p:nvSpPr>
        <p:spPr>
          <a:xfrm>
            <a:off x="9086850" y="2676525"/>
            <a:ext cx="2324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Ray 引擎负责人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F955AA5-7F8D-4F2B-BC5F-3CCFF207C405}"/>
              </a:ext>
            </a:extLst>
          </p:cNvPr>
          <p:cNvSpPr>
            <a:spLocks noGrp="1"/>
          </p:cNvSpPr>
          <p:nvPr/>
        </p:nvSpPr>
        <p:spPr>
          <a:xfrm>
            <a:off x="9086850" y="2905125"/>
            <a:ext cx="2343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86374"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产品化架构、异构调度与业务交付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资源利用率提升 4 倍，数据生产时间减少 40%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98F06EBE-7AA4-4590-9E29-F30C90642756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095625" cy="876300"/>
          </a:xfrm>
          <a:prstGeom prst="roundRect">
            <a:avLst>
              <a:gd name="adj" fmla="val 8696"/>
            </a:avLst>
          </a:prstGeom>
          <a:solidFill>
            <a:srgbClr val="EDF5FC"/>
          </a:solidFill>
          <a:ln w="9525">
            <a:solidFill>
              <a:srgbClr val="D7E2EC"/>
            </a:solidFill>
            <a:prstDash val="solid"/>
          </a:ln>
        </p:spPr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F40471FA-ED92-439C-B5F3-49B8C68E6D43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66675" cy="876300"/>
          </a:xfrm>
          <a:prstGeom prst="roundRect">
            <a:avLst>
              <a:gd name="adj" fmla="val 50000"/>
            </a:avLst>
          </a:prstGeom>
          <a:solidFill>
            <a:srgbClr val="2F80C7"/>
          </a:solidFill>
          <a:ln w="0">
            <a:noFill/>
            <a:prstDash val="solid"/>
          </a:ln>
        </p:spPr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ADE88E2D-2212-4C8A-BDD2-0B9E6D022875}"/>
              </a:ext>
            </a:extLst>
          </p:cNvPr>
          <p:cNvSpPr>
            <a:spLocks noGrp="1"/>
          </p:cNvSpPr>
          <p:nvPr/>
        </p:nvSpPr>
        <p:spPr>
          <a:xfrm>
            <a:off x="8734425" y="3381375"/>
            <a:ext cx="257175" cy="257175"/>
          </a:xfrm>
          <a:prstGeom prst="ellipse">
            <a:avLst/>
          </a:prstGeom>
          <a:solidFill>
            <a:srgbClr val="2F80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EA8F6E6-12F6-4B78-BE20-AEBB52A4FA2D}"/>
              </a:ext>
            </a:extLst>
          </p:cNvPr>
          <p:cNvSpPr>
            <a:spLocks noGrp="1"/>
          </p:cNvSpPr>
          <p:nvPr/>
        </p:nvSpPr>
        <p:spPr>
          <a:xfrm>
            <a:off x="8810625" y="3438525"/>
            <a:ext cx="1047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85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07B8EE-0868-42D2-A5F2-8CB818AE68AC}"/>
              </a:ext>
            </a:extLst>
          </p:cNvPr>
          <p:cNvSpPr>
            <a:spLocks noGrp="1"/>
          </p:cNvSpPr>
          <p:nvPr/>
        </p:nvSpPr>
        <p:spPr>
          <a:xfrm>
            <a:off x="9086850" y="335280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2F8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2F80C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2023.07–2024｜点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39930EE-E414-4A2E-A90F-34D42668D7D1}"/>
              </a:ext>
            </a:extLst>
          </p:cNvPr>
          <p:cNvSpPr>
            <a:spLocks noGrp="1"/>
          </p:cNvSpPr>
          <p:nvPr/>
        </p:nvSpPr>
        <p:spPr>
          <a:xfrm>
            <a:off x="9086850" y="3543300"/>
            <a:ext cx="2324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FabricCache 骨干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E849A95-4448-4FC3-B76C-42D66E79313F}"/>
              </a:ext>
            </a:extLst>
          </p:cNvPr>
          <p:cNvSpPr>
            <a:spLocks noGrp="1"/>
          </p:cNvSpPr>
          <p:nvPr/>
        </p:nvSpPr>
        <p:spPr>
          <a:xfrm>
            <a:off x="9086850" y="3771900"/>
            <a:ext cx="2343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86374"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近计算侧缓存底座建设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OBS 访问时延降低 70%，带宽提升 3 倍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FACCBA4D-67CC-43D6-AE44-5F4FD1108BAA}"/>
              </a:ext>
            </a:extLst>
          </p:cNvPr>
          <p:cNvSpPr>
            <a:spLocks noGrp="1"/>
          </p:cNvSpPr>
          <p:nvPr/>
        </p:nvSpPr>
        <p:spPr>
          <a:xfrm>
            <a:off x="8534400" y="4105275"/>
            <a:ext cx="3095625" cy="876300"/>
          </a:xfrm>
          <a:prstGeom prst="roundRect">
            <a:avLst>
              <a:gd name="adj" fmla="val 8696"/>
            </a:avLst>
          </a:prstGeom>
          <a:solidFill>
            <a:srgbClr val="FFF5DF"/>
          </a:solidFill>
          <a:ln w="9525">
            <a:solidFill>
              <a:srgbClr val="D7E2EC"/>
            </a:solidFill>
            <a:prstDash val="solid"/>
          </a:ln>
        </p:spPr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F7E21B93-4886-43BB-AC72-5DB65B4A3004}"/>
              </a:ext>
            </a:extLst>
          </p:cNvPr>
          <p:cNvSpPr>
            <a:spLocks noGrp="1"/>
          </p:cNvSpPr>
          <p:nvPr/>
        </p:nvSpPr>
        <p:spPr>
          <a:xfrm>
            <a:off x="8534400" y="4105275"/>
            <a:ext cx="66675" cy="876300"/>
          </a:xfrm>
          <a:prstGeom prst="roundRect">
            <a:avLst>
              <a:gd name="adj" fmla="val 50000"/>
            </a:avLst>
          </a:prstGeom>
          <a:solidFill>
            <a:srgbClr val="F1A83A"/>
          </a:solidFill>
          <a:ln w="0">
            <a:noFill/>
            <a:prstDash val="solid"/>
          </a:ln>
        </p:spPr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5033F86-55EA-491E-BFA0-DFFF82A83326}"/>
              </a:ext>
            </a:extLst>
          </p:cNvPr>
          <p:cNvSpPr>
            <a:spLocks noGrp="1"/>
          </p:cNvSpPr>
          <p:nvPr/>
        </p:nvSpPr>
        <p:spPr>
          <a:xfrm>
            <a:off x="8734425" y="4248150"/>
            <a:ext cx="257175" cy="257175"/>
          </a:xfrm>
          <a:prstGeom prst="ellipse">
            <a:avLst/>
          </a:prstGeom>
          <a:solidFill>
            <a:srgbClr val="F1A8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6587596-938D-497E-B595-59FB1302B46A}"/>
              </a:ext>
            </a:extLst>
          </p:cNvPr>
          <p:cNvSpPr>
            <a:spLocks noGrp="1"/>
          </p:cNvSpPr>
          <p:nvPr/>
        </p:nvSpPr>
        <p:spPr>
          <a:xfrm>
            <a:off x="8810625" y="4305300"/>
            <a:ext cx="1047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85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1B0D279-06A6-4956-B9CA-EAD159CA6680}"/>
              </a:ext>
            </a:extLst>
          </p:cNvPr>
          <p:cNvSpPr>
            <a:spLocks noGrp="1"/>
          </p:cNvSpPr>
          <p:nvPr/>
        </p:nvSpPr>
        <p:spPr>
          <a:xfrm>
            <a:off x="9086850" y="421957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F1A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1A83A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2025.11–2026.04｜面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AB122FB-53F7-44BA-93F1-FD96D346D81B}"/>
              </a:ext>
            </a:extLst>
          </p:cNvPr>
          <p:cNvSpPr>
            <a:spLocks noGrp="1"/>
          </p:cNvSpPr>
          <p:nvPr/>
        </p:nvSpPr>
        <p:spPr>
          <a:xfrm>
            <a:off x="9086850" y="4410075"/>
            <a:ext cx="2324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4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14233B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平台系统级架构师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FCF7FEF-C297-48C6-9684-85E5FF5AD336}"/>
              </a:ext>
            </a:extLst>
          </p:cNvPr>
          <p:cNvSpPr>
            <a:spLocks noGrp="1"/>
          </p:cNvSpPr>
          <p:nvPr/>
        </p:nvSpPr>
        <p:spPr>
          <a:xfrm>
            <a:off x="9086850" y="4638675"/>
            <a:ext cx="2343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86374"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统筹控制面、元数据、缓存与计算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形成端到端架构与平台演进路线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9CB5224A-0522-43DB-8EB4-90F242BB6C15}"/>
              </a:ext>
            </a:extLst>
          </p:cNvPr>
          <p:cNvSpPr>
            <a:spLocks noGrp="1"/>
          </p:cNvSpPr>
          <p:nvPr/>
        </p:nvSpPr>
        <p:spPr>
          <a:xfrm>
            <a:off x="542925" y="5143500"/>
            <a:ext cx="11087100" cy="876300"/>
          </a:xfrm>
          <a:prstGeom prst="roundRect">
            <a:avLst>
              <a:gd name="adj" fmla="val 13043"/>
            </a:avLst>
          </a:prstGeom>
          <a:solidFill>
            <a:srgbClr val="F7FAFD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B2CD3B3-BA99-4BCF-AFFA-61C8EB765887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D4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1D4D7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成长逻辑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A59E1BC-D8F4-49BB-8F7D-2FBD0FFD25F2}"/>
              </a:ext>
            </a:extLst>
          </p:cNvPr>
          <p:cNvSpPr>
            <a:spLocks noGrp="1"/>
          </p:cNvSpPr>
          <p:nvPr/>
        </p:nvSpPr>
        <p:spPr>
          <a:xfrm>
            <a:off x="1857375" y="5305425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F8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2F80C7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点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B87E991-73C7-4CF9-9888-B15FB6627783}"/>
              </a:ext>
            </a:extLst>
          </p:cNvPr>
          <p:cNvSpPr>
            <a:spLocks noGrp="1"/>
          </p:cNvSpPr>
          <p:nvPr/>
        </p:nvSpPr>
        <p:spPr>
          <a:xfrm>
            <a:off x="2181225" y="5324475"/>
            <a:ext cx="1219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缓存子模块深耕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EBD9EBB-B44B-436C-9321-36AE9B8F7830}"/>
              </a:ext>
            </a:extLst>
          </p:cNvPr>
          <p:cNvSpPr>
            <a:spLocks noGrp="1"/>
          </p:cNvSpPr>
          <p:nvPr/>
        </p:nvSpPr>
        <p:spPr>
          <a:xfrm>
            <a:off x="3695700" y="5305425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E9C9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E9C9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线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A1ACE37-E37A-4A36-AB7D-C2465100FDA4}"/>
              </a:ext>
            </a:extLst>
          </p:cNvPr>
          <p:cNvSpPr>
            <a:spLocks noGrp="1"/>
          </p:cNvSpPr>
          <p:nvPr/>
        </p:nvSpPr>
        <p:spPr>
          <a:xfrm>
            <a:off x="4019550" y="53244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计算引擎全责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3958499-8C17-4482-9A06-15E945F89EAA}"/>
              </a:ext>
            </a:extLst>
          </p:cNvPr>
          <p:cNvSpPr>
            <a:spLocks noGrp="1"/>
          </p:cNvSpPr>
          <p:nvPr/>
        </p:nvSpPr>
        <p:spPr>
          <a:xfrm>
            <a:off x="5476875" y="5305425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1A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1A83A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面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44FB3AD7-C837-4E15-A63A-E9035AA93C17}"/>
              </a:ext>
            </a:extLst>
          </p:cNvPr>
          <p:cNvSpPr>
            <a:spLocks noGrp="1"/>
          </p:cNvSpPr>
          <p:nvPr/>
        </p:nvSpPr>
        <p:spPr>
          <a:xfrm>
            <a:off x="5800725" y="53244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统筹全栈架构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31F3142-628D-45F3-BF8F-823E8C805FAF}"/>
              </a:ext>
            </a:extLst>
          </p:cNvPr>
          <p:cNvSpPr>
            <a:spLocks noGrp="1"/>
          </p:cNvSpPr>
          <p:nvPr/>
        </p:nvSpPr>
        <p:spPr>
          <a:xfrm>
            <a:off x="7229475" y="5305425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C9C68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C9C68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面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67B2B3B-59E1-44B4-9D34-A9A6457F3F46}"/>
              </a:ext>
            </a:extLst>
          </p:cNvPr>
          <p:cNvSpPr>
            <a:spLocks noGrp="1"/>
          </p:cNvSpPr>
          <p:nvPr/>
        </p:nvSpPr>
        <p:spPr>
          <a:xfrm>
            <a:off x="7553325" y="532447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>
                <a:solidFill>
                  <a:srgbClr val="52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带队打造自研引擎</a:t>
            </a:r>
          </a:p>
        </p:txBody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B12FAEA5-2408-48DB-8FAA-DDFD734D74EB}"/>
              </a:ext>
            </a:extLst>
          </p:cNvPr>
          <p:cNvSpPr>
            <a:spLocks noGrp="1"/>
          </p:cNvSpPr>
          <p:nvPr/>
        </p:nvSpPr>
        <p:spPr>
          <a:xfrm>
            <a:off x="1790700" y="5638800"/>
            <a:ext cx="9525000" cy="0"/>
          </a:xfrm>
          <a:prstGeom prst="line">
            <a:avLst/>
          </a:prstGeom>
          <a:noFill/>
          <a:ln w="9525">
            <a:solidFill>
              <a:srgbClr val="D8E4EF"/>
            </a:solidFill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3559782-2B5D-4D20-8481-2E73848EE490}"/>
              </a:ext>
            </a:extLst>
          </p:cNvPr>
          <p:cNvSpPr>
            <a:spLocks noGrp="1"/>
          </p:cNvSpPr>
          <p:nvPr/>
        </p:nvSpPr>
        <p:spPr>
          <a:xfrm>
            <a:off x="1104900" y="5734050"/>
            <a:ext cx="9963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039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D4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1D4D7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从做成一个模块，到组织一群人把资源、数据与计算做成可持续演进的平台能力。</a:t>
            </a:r>
          </a:p>
        </p:txBody>
      </p:sp>
    </p:spTree>
    <p:extLst>
      <p:ext uri="{BB962C8B-B14F-4D97-AF65-F5344CB8AC3E}">
        <p14:creationId xmlns:p14="http://schemas.microsoft.com/office/powerpoint/2010/main" val="16073405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DocSecurity>0</DocSecurity>
  <PresentationFormat>宽屏</PresentationFormat>
  <Paragraphs>106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鹏飞 李</cp:lastModifiedBy>
  <cp:revision>1</cp:revision>
  <dcterms:created xsi:type="dcterms:W3CDTF">2026-09-14T13:23:31Z</dcterms:created>
  <dcterms:modified xsi:type="dcterms:W3CDTF">2026-09-14T13:36:37Z</dcterms:modified>
</cp:coreProperties>
</file>